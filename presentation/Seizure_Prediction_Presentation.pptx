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Effect of Preprocessing Order, Model Complexity,
and Regularization Strategies on Generalization
in Epileptic Seizure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Ishfaq Ghani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Department of Computer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Institute of Management Sciences (IMSciences), Peshawar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Data Mining — Semester Major Assignment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April 2026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Why Seizure Prediction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Epilepsy affects ~50 million people worldwide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Seizures are unpredictable → can cause injury, accidents, even death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EEG analysis can detect/predict seizures, but is manual &amp; time-consuming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Machine learning offers automation — yet results vary widely across studies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846320"/>
            <a:ext cx="10972800" cy="146304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Our Hypothesis: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Most variation across studies comes from preprocessing decisions and class imbalance handling — not the classifier itself.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4 Research Questions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188720"/>
            <a:ext cx="822960" cy="8229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17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Does the ORDERING of preprocessing operations affect performance?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77440"/>
            <a:ext cx="822960" cy="8229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542032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06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Which regularization (L1, L2, Elastic Net) generalizes best?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566160"/>
            <a:ext cx="822960" cy="8229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730752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94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Does Elastic Net consistently outperform L1 / L2?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754880"/>
            <a:ext cx="822960" cy="8229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919472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983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How does class-imbalance handling interact with regularization?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Datasets — 3 EEG Sources, 4 Variants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Samples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Features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Imbalance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UCI Epileptic Seizure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1:4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Bonn University EEG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4,097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1:3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CHB-MIT (balanced)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3,546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5,888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1:1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74C3C"/>
                          </a:solidFill>
                        </a:rPr>
                        <a:t>D3_imb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74C3C"/>
                          </a:solidFill>
                        </a:rPr>
                        <a:t>CHB-MIT (imbalanced)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74C3C"/>
                          </a:solidFill>
                        </a:rPr>
                        <a:t>1,462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74C3C"/>
                          </a:solidFill>
                        </a:rPr>
                        <a:t>5,888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74C3C"/>
                          </a:solidFill>
                        </a:rPr>
                        <a:t>1:3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Variety chosen intentionally to test generalization: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Pre-extracted features (D1) vs raw time-series (D2, D3)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Small (400) vs medium (3.5K) vs large (11.5K) sample sizes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Balanced (D3) vs naturally imbalanced (D3_imb) — for SMOTE study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What EEG Looks Like — Bonn Dataset Samples</a:t>
            </a:r>
          </a:p>
        </p:txBody>
      </p:sp>
      <p:pic>
        <p:nvPicPr>
          <p:cNvPr id="4" name="Picture 3" descr="dataset2_bonn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698048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Key Observation: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Set S (seizure) shows clear:
• Higher amplitude
• Irregular oscillations
• Distinctive patterns
Non-seizure classes (Z, O, N, F) appear smoother and more regular.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Two Preprocessing Pipelines — Same Operations, Different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4846320"/>
          </a:xfrm>
          <a:prstGeom prst="roundRect">
            <a:avLst/>
          </a:prstGeom>
          <a:solidFill>
            <a:srgbClr val="FDECEA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74C3C"/>
                </a:solidFill>
              </a:rPr>
              <a:t>Pipeline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</a:rPr>
              <a:t>Normalize → Denoise → Feature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1. Z-score normalization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2. Bandpass filter (0.5–40 Hz)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3. Top-50 feature selection (ANOVA 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Operates on raw values throughout, selects original features.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486400" cy="4846320"/>
          </a:xfrm>
          <a:prstGeom prst="roundRect">
            <a:avLst/>
          </a:prstGeom>
          <a:solidFill>
            <a:srgbClr val="E9F7E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7AE60"/>
                </a:solidFill>
              </a:rPr>
              <a:t>Pipeline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</a:rPr>
              <a:t>Feature Extract → Scale → PCA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1. Statistical + FFT features (~23)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17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2. StandardScaler normalization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566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3. PCA → 10 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Creates derived statistical descriptors first, then reduces dimension.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</a:rPr>
              <a:t>💡 Hypothesis: Pipeline ORDER itself matters — not just the operations chosen.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Logistic Regression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</a:rPr>
              <a:t>P(y=1|x) = 1 / (1 + e^-(β₀ + βᵀx))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Regularization Strategies: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L1 (Lasso): λΣ|w| → sparse solutions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L2 (Ridge): λΣw² → weight shrinkage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Elastic Net: α·L1 + (1-α)·L2 (α=0.5)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Class-Imbalance Strategies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No balancing (baseline)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SMOTE oversampling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Random undersampling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Class weighting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Evaluation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F1-score, Precision, Recall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PR-AUC (primary for imbalance)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ROC-AUC, Accuracy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Stratified 80/20 split, seed=42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Bias–Variance Trade-off — Validation Curve</a:t>
            </a:r>
          </a:p>
        </p:txBody>
      </p:sp>
      <p:pic>
        <p:nvPicPr>
          <p:cNvPr id="4" name="Picture 3" descr="valid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48641"/>
            <a:ext cx="7249885" cy="4320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Three regions: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9202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• Left (small C): Strong reg → underfitting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• Right (large C): No reg → overfitting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• Middle: Sweet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Optimal C ≈ 51.79
Learning curve confirms: gap shrinks from 0.31 → 0.08 with more data.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Q1: Does Preprocessing Order Matter?</a:t>
            </a:r>
          </a:p>
          <a:p>
            <a:r>
              <a:rPr sz="1300" i="1">
                <a:solidFill>
                  <a:srgbClr val="FFFFFF"/>
                </a:solidFill>
              </a:rPr>
              <a:t>YES — Pipeline B wins on 4/4 datasets</a:t>
            </a:r>
          </a:p>
        </p:txBody>
      </p:sp>
      <p:pic>
        <p:nvPicPr>
          <p:cNvPr id="4" name="Picture 3" descr="Q1_preprocessing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554691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394960"/>
            <a:ext cx="11247120" cy="1280160"/>
          </a:xfrm>
          <a:prstGeom prst="roundRect">
            <a:avLst/>
          </a:prstGeom>
          <a:solidFill>
            <a:srgbClr val="E9F7E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</a:rPr>
              <a:t>🔑 Key Finding:  Average F1 improvement = +0.310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Largest jump: D1 from F1=0.095 → 0.904. Pipeline A's bandpass filter destroyed already-extracted features instead of removing noise.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Q2: Which Regularization Generalizes Best?</a:t>
            </a:r>
          </a:p>
          <a:p>
            <a:r>
              <a:rPr sz="1300" i="1">
                <a:solidFill>
                  <a:srgbClr val="FFFFFF"/>
                </a:solidFill>
              </a:rPr>
              <a:t>L1 wins on all 4 datasets</a:t>
            </a:r>
          </a:p>
        </p:txBody>
      </p:sp>
      <p:pic>
        <p:nvPicPr>
          <p:cNvPr id="4" name="Picture 3" descr="regularization_pipelin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02885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</a:rPr>
              <a:t>F1 Scores (Pipeline B)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0" y="1737360"/>
          <a:ext cx="411480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Reg.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D2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D3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D3_imb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AE60"/>
                          </a:solidFill>
                        </a:rPr>
                        <a:t>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AE60"/>
                          </a:solidFill>
                        </a:rPr>
                        <a:t>0.904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AE60"/>
                          </a:solidFill>
                        </a:rPr>
                        <a:t>0.865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AE60"/>
                          </a:solidFill>
                        </a:rPr>
                        <a:t>0.618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AE60"/>
                          </a:solidFill>
                        </a:rPr>
                        <a:t>0.030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</a:rPr>
              <a:t>Sparsity (D1):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1148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L1: 26% features zeroed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L2: 0% features zeroed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ElasticNet: 14% zeroed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</a:rPr>
              <a:t>💡 L1 wins because EEG features are correlated/noisy — sparsity removes redundancy.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Q3: Does Elastic Net Consistently Win?</a:t>
            </a:r>
          </a:p>
          <a:p>
            <a:r>
              <a:rPr sz="1300" i="1">
                <a:solidFill>
                  <a:srgbClr val="FFFFFF"/>
                </a:solidFill>
              </a:rPr>
              <a:t>NO — Counter to common assumption</a:t>
            </a:r>
          </a:p>
        </p:txBody>
      </p:sp>
      <p:pic>
        <p:nvPicPr>
          <p:cNvPr id="4" name="Picture 3" descr="Q3_elastic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40363"/>
            <a:ext cx="8397458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76049" y="132774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1F4E79"/>
                </a:solidFill>
              </a:rPr>
              <a:t>Win Counts: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6049" y="1927704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EN beats L1: 0/4 datasets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EN beats L2: 1/4 datasets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EN overall winner: 0/4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11247120" cy="1097280"/>
          </a:xfrm>
          <a:prstGeom prst="roundRect">
            <a:avLst/>
          </a:prstGeom>
          <a:solidFill>
            <a:srgbClr val="FDECEA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4C3C"/>
                </a:solidFill>
              </a:rPr>
              <a:t>Why? L1 alone is sufficient.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Principal benefit comes from FEATURE SELECTION (sparsity), not L2's weight smoothing. Adding L2 dilutes the benefit.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Q4: Class Imbalance Handling — 12× F1 Improvement!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897515"/>
              </p:ext>
            </p:extLst>
          </p:nvPr>
        </p:nvGraphicFramePr>
        <p:xfrm>
          <a:off x="200025" y="1040129"/>
          <a:ext cx="4400552" cy="2156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14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147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No Balancing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0.030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0.015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147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SMOTE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0.337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/>
                        <a:t>0.230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0.636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147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Undersampling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0.349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0.243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0.621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14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</a:rPr>
                        <a:t>Class 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</a:rPr>
                        <a:t>0.354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</a:rPr>
                        <a:t>0.239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27AE60"/>
                          </a:solidFill>
                        </a:rPr>
                        <a:t>0.682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 descr="Q4_inte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19" y="822960"/>
            <a:ext cx="7142374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🎯 Critical Insight: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• Baseline: F1 = 0.03 (model predicts only majority class — clinically useless!)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• Class Weighting: F1 = 0.354 (12× improvement) — Recall jumps from 1.5% → 68%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• All balancing strategies are similarly effective; choice of regularization is secondary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Master Results — Best Configuration Per Dataset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Pipeline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Reg.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Balancing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PR-AUC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D1 (UCI)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0.9042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0.9691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D2 (Bonn)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0.8649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0.9815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D3 (CHB-MIT bal)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0.6176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0.7573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D3_imb (CHB-MIT)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Class Wt.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0.3543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0.2462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297680"/>
            <a:ext cx="11247120" cy="2194560"/>
          </a:xfrm>
          <a:prstGeom prst="roundRect">
            <a:avLst/>
          </a:prstGeom>
          <a:solidFill>
            <a:srgbClr val="E9F7EF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AE60"/>
                </a:solidFill>
              </a:rPr>
              <a:t>🏆 Recommended Configuration: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</a:rPr>
              <a:t>Pipeline B (Feature Extract → Scale → PCA)  +  L1 Regularization  +  Class Weighting (when imbalanced)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→ Achieves F1 up to 0.9042 and PR-AUC up to 0.9691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 — Take-Home Messages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Preprocessing ORDER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Mean ΔF1 = +0.310 across datasets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94560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40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L1 generalizes best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97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Lowest std, wins on 4/4 datasets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00400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46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Elastic Net offers no consistent advantage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L1 alone suffices for EEG data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206240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51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Class balancing is critical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12× F1 improvement on imbalanced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486400"/>
            <a:ext cx="11247120" cy="10972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Thank You — Questions?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Ishfaq Ghani  |  msds.256409240@imsciences.edu.pk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974</Words>
  <Application>Microsoft Office PowerPoint</Application>
  <PresentationFormat>Custom</PresentationFormat>
  <Paragraphs>206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Ishfaq Ghani</dc:creator>
  <cp:keywords/>
  <dc:description>generated using python-pptx</dc:description>
  <cp:lastModifiedBy>Ishfaq Ghani</cp:lastModifiedBy>
  <cp:revision>4</cp:revision>
  <dcterms:created xsi:type="dcterms:W3CDTF">2013-01-27T09:14:16Z</dcterms:created>
  <dcterms:modified xsi:type="dcterms:W3CDTF">2026-04-28T20:20:39Z</dcterms:modified>
  <cp:category/>
</cp:coreProperties>
</file>